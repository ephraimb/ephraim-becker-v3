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DE2D5F-9ECD-4D94-9329-226F522C568E}">
  <a:tblStyle styleId="{31DE2D5F-9ECD-4D94-9329-226F522C56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c5e30eef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c5e30eef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c5e30eef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c5e30eef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c5e30eef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c5e30eef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c5e30eef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c5e30eef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51cb63f709409a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51cb63f709409a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5cd519a99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5cd519a9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51cb63f709409a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51cb63f709409a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cd519a9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cd519a9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cd519a9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cd519a9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Biking Forecast &amp; Planner XR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A mixed reality ride planner that helps cyclists optimize weather, gear, and nutrition before heading out.</a:t>
            </a:r>
            <a:endParaRPr/>
          </a:p>
        </p:txBody>
      </p:sp>
      <p:pic>
        <p:nvPicPr>
          <p:cNvPr id="56" name="Google Shape;56;p13" title="5A2EB58D-5EEA-4773-AB57-B42FDF7B30D4.PNG"/>
          <p:cNvPicPr preferRelativeResize="0"/>
          <p:nvPr/>
        </p:nvPicPr>
        <p:blipFill>
          <a:blip r:embed="rId3">
            <a:alphaModFix amt="25000"/>
          </a:blip>
          <a:stretch>
            <a:fillRect/>
          </a:stretch>
        </p:blipFill>
        <p:spPr>
          <a:xfrm>
            <a:off x="0" y="0"/>
            <a:ext cx="9144000"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Cyclists face unpredictable weather, nutrition mistakes, and ride delays — often without knowing until it's too late.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Concept</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mixed reality biking planner that helps you optimize your ride before you even step outside. Choose your bike, configure your gear, and based on weather forecasts, it recommends your best departure time and estimates your arrival speed. The app also provides nutrition guidance — telling you what to eat, when, and where during your ride.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Diagram</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Choose bike → Add gear → Check forecast → See ETA/nutrition → Enter simulation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Swipe through bike types</a:t>
            </a:r>
            <a:endParaRPr/>
          </a:p>
        </p:txBody>
      </p:sp>
      <p:sp>
        <p:nvSpPr>
          <p:cNvPr id="80" name="Google Shape;80;p17"/>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Right in your real room lies a virtual bike with hints that you can swipe through different bike types be it hybrid, BMX, mountain, road bikes, and more..</a:t>
            </a:r>
            <a:endParaRPr/>
          </a:p>
        </p:txBody>
      </p:sp>
      <p:pic>
        <p:nvPicPr>
          <p:cNvPr id="81" name="Google Shape;81;p17"/>
          <p:cNvPicPr preferRelativeResize="0"/>
          <p:nvPr/>
        </p:nvPicPr>
        <p:blipFill>
          <a:blip r:embed="rId3">
            <a:alphaModFix/>
          </a:blip>
          <a:stretch>
            <a:fillRect/>
          </a:stretch>
        </p:blipFill>
        <p:spPr>
          <a:xfrm>
            <a:off x="3438538" y="2876575"/>
            <a:ext cx="2266926" cy="22669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Tap to add/remove accessories</a:t>
            </a:r>
            <a:endParaRPr/>
          </a:p>
        </p:txBody>
      </p:sp>
      <p:sp>
        <p:nvSpPr>
          <p:cNvPr id="87" name="Google Shape;87;p18"/>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will be visual cues of mounting points on the virtual bike that you can tap it and it will give you options organized by categories of accessories you can put on your bike which will also show you the speed penalty you’ll lose.</a:t>
            </a:r>
            <a:endParaRPr/>
          </a:p>
        </p:txBody>
      </p:sp>
      <p:pic>
        <p:nvPicPr>
          <p:cNvPr id="88" name="Google Shape;88;p18"/>
          <p:cNvPicPr preferRelativeResize="0"/>
          <p:nvPr/>
        </p:nvPicPr>
        <p:blipFill>
          <a:blip r:embed="rId3">
            <a:alphaModFix/>
          </a:blip>
          <a:stretch>
            <a:fillRect/>
          </a:stretch>
        </p:blipFill>
        <p:spPr>
          <a:xfrm>
            <a:off x="1852541" y="2706525"/>
            <a:ext cx="2266926" cy="2266926"/>
          </a:xfrm>
          <a:prstGeom prst="rect">
            <a:avLst/>
          </a:prstGeom>
          <a:noFill/>
          <a:ln>
            <a:noFill/>
          </a:ln>
        </p:spPr>
      </p:pic>
      <p:pic>
        <p:nvPicPr>
          <p:cNvPr id="89" name="Google Shape;89;p18"/>
          <p:cNvPicPr preferRelativeResize="0"/>
          <p:nvPr/>
        </p:nvPicPr>
        <p:blipFill>
          <a:blip r:embed="rId4">
            <a:alphaModFix/>
          </a:blip>
          <a:stretch>
            <a:fillRect/>
          </a:stretch>
        </p:blipFill>
        <p:spPr>
          <a:xfrm>
            <a:off x="4572001" y="2706525"/>
            <a:ext cx="3400389" cy="2266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Choose Route and Destination</a:t>
            </a:r>
            <a:endParaRPr/>
          </a:p>
        </p:txBody>
      </p:sp>
      <p:sp>
        <p:nvSpPr>
          <p:cNvPr id="95" name="Google Shape;95;p19"/>
          <p:cNvSpPr txBox="1"/>
          <p:nvPr>
            <p:ph idx="1" type="body"/>
          </p:nvPr>
        </p:nvSpPr>
        <p:spPr>
          <a:xfrm>
            <a:off x="311700" y="1152475"/>
            <a:ext cx="8520600" cy="136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Select your ride destination on a spatial map or through voice input. The app calculates your route, estimates travel time, and overlays forecast, difficulty, and nutrition planning.</a:t>
            </a:r>
            <a:endParaRPr/>
          </a:p>
        </p:txBody>
      </p:sp>
      <p:pic>
        <p:nvPicPr>
          <p:cNvPr id="96" name="Google Shape;96;p19" title="24D831FD-1F51-483C-9CE3-F6087AAB1645.PNG"/>
          <p:cNvPicPr preferRelativeResize="0"/>
          <p:nvPr/>
        </p:nvPicPr>
        <p:blipFill>
          <a:blip r:embed="rId3">
            <a:alphaModFix/>
          </a:blip>
          <a:stretch>
            <a:fillRect/>
          </a:stretch>
        </p:blipFill>
        <p:spPr>
          <a:xfrm>
            <a:off x="3411238" y="2651925"/>
            <a:ext cx="2321526" cy="23215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9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7-Day XR Ride Forecast Timeline</a:t>
            </a:r>
            <a:endParaRPr/>
          </a:p>
        </p:txBody>
      </p:sp>
      <p:sp>
        <p:nvSpPr>
          <p:cNvPr id="102" name="Google Shape;102;p20"/>
          <p:cNvSpPr txBox="1"/>
          <p:nvPr>
            <p:ph idx="1" type="body"/>
          </p:nvPr>
        </p:nvSpPr>
        <p:spPr>
          <a:xfrm>
            <a:off x="311700" y="1520074"/>
            <a:ext cx="8520600" cy="105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horizontal mixed reality display showing ride conditions, weather, nutrition, and gear tips for the entire week — all stacked by day, floating in your space.</a:t>
            </a:r>
            <a:endParaRPr/>
          </a:p>
        </p:txBody>
      </p:sp>
      <p:pic>
        <p:nvPicPr>
          <p:cNvPr id="103" name="Google Shape;103;p20"/>
          <p:cNvPicPr preferRelativeResize="0"/>
          <p:nvPr/>
        </p:nvPicPr>
        <p:blipFill>
          <a:blip r:embed="rId3">
            <a:alphaModFix/>
          </a:blip>
          <a:stretch>
            <a:fillRect/>
          </a:stretch>
        </p:blipFill>
        <p:spPr>
          <a:xfrm>
            <a:off x="3438588" y="2744224"/>
            <a:ext cx="2266826" cy="22668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Simulation mode</a:t>
            </a:r>
            <a:endParaRPr/>
          </a:p>
        </p:txBody>
      </p:sp>
      <p:sp>
        <p:nvSpPr>
          <p:cNvPr id="109" name="Google Shape;109;p21"/>
          <p:cNvSpPr txBox="1"/>
          <p:nvPr>
            <p:ph idx="1" type="body"/>
          </p:nvPr>
        </p:nvSpPr>
        <p:spPr>
          <a:xfrm>
            <a:off x="311700" y="1152475"/>
            <a:ext cx="8520600" cy="141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Touch the bike’s handlebars to enter VR mode and preview your ride. You’ll see a first-person view of the route ahead, complete with a heads-up display showing real-time conditions like wind, terrain, weather, ETA, and nutrition checkpoints.</a:t>
            </a:r>
            <a:endParaRPr/>
          </a:p>
        </p:txBody>
      </p:sp>
      <p:pic>
        <p:nvPicPr>
          <p:cNvPr id="110" name="Google Shape;110;p21" title="03C352B8-209C-4FFA-B678-9E2A7E22DA5C.PNG"/>
          <p:cNvPicPr preferRelativeResize="0"/>
          <p:nvPr/>
        </p:nvPicPr>
        <p:blipFill>
          <a:blip r:embed="rId3">
            <a:alphaModFix/>
          </a:blip>
          <a:stretch>
            <a:fillRect/>
          </a:stretch>
        </p:blipFill>
        <p:spPr>
          <a:xfrm>
            <a:off x="3438538" y="2706525"/>
            <a:ext cx="2266926" cy="2266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Interactions Overview</a:t>
            </a:r>
            <a:endParaRPr/>
          </a:p>
        </p:txBody>
      </p:sp>
      <p:graphicFrame>
        <p:nvGraphicFramePr>
          <p:cNvPr id="116" name="Google Shape;116;p22"/>
          <p:cNvGraphicFramePr/>
          <p:nvPr/>
        </p:nvGraphicFramePr>
        <p:xfrm>
          <a:off x="952500" y="1131750"/>
          <a:ext cx="3000000" cy="3000000"/>
        </p:xfrm>
        <a:graphic>
          <a:graphicData uri="http://schemas.openxmlformats.org/drawingml/2006/table">
            <a:tbl>
              <a:tblPr>
                <a:noFill/>
                <a:tableStyleId>{31DE2D5F-9ECD-4D94-9329-226F522C568E}</a:tableStyleId>
              </a:tblPr>
              <a:tblGrid>
                <a:gridCol w="3619500"/>
                <a:gridCol w="3619500"/>
              </a:tblGrid>
              <a:tr h="381000">
                <a:tc>
                  <a:txBody>
                    <a:bodyPr/>
                    <a:lstStyle/>
                    <a:p>
                      <a:pPr indent="0" lvl="0" marL="0" rtl="0" algn="l">
                        <a:spcBef>
                          <a:spcPts val="0"/>
                        </a:spcBef>
                        <a:spcAft>
                          <a:spcPts val="0"/>
                        </a:spcAft>
                        <a:buNone/>
                      </a:pPr>
                      <a:r>
                        <a:rPr b="1" lang="en"/>
                        <a:t>Action</a:t>
                      </a:r>
                      <a:endParaRPr b="1"/>
                    </a:p>
                  </a:txBody>
                  <a:tcPr marT="91425" marB="91425" marR="91425" marL="91425"/>
                </a:tc>
                <a:tc>
                  <a:txBody>
                    <a:bodyPr/>
                    <a:lstStyle/>
                    <a:p>
                      <a:pPr indent="0" lvl="0" marL="0" rtl="0" algn="l">
                        <a:spcBef>
                          <a:spcPts val="0"/>
                        </a:spcBef>
                        <a:spcAft>
                          <a:spcPts val="0"/>
                        </a:spcAft>
                        <a:buNone/>
                      </a:pPr>
                      <a:r>
                        <a:rPr b="1" lang="en"/>
                        <a:t>Result</a:t>
                      </a:r>
                      <a:endParaRPr b="1"/>
                    </a:p>
                  </a:txBody>
                  <a:tcPr marT="91425" marB="91425" marR="91425" marL="91425"/>
                </a:tc>
              </a:tr>
              <a:tr h="381000">
                <a:tc>
                  <a:txBody>
                    <a:bodyPr/>
                    <a:lstStyle/>
                    <a:p>
                      <a:pPr indent="0" lvl="0" marL="0" rtl="0" algn="l">
                        <a:spcBef>
                          <a:spcPts val="0"/>
                        </a:spcBef>
                        <a:spcAft>
                          <a:spcPts val="0"/>
                        </a:spcAft>
                        <a:buNone/>
                      </a:pPr>
                      <a:r>
                        <a:rPr lang="en"/>
                        <a:t>Swipe bike</a:t>
                      </a:r>
                      <a:endParaRPr/>
                    </a:p>
                  </a:txBody>
                  <a:tcPr marT="91425" marB="91425" marR="91425" marL="91425"/>
                </a:tc>
                <a:tc>
                  <a:txBody>
                    <a:bodyPr/>
                    <a:lstStyle/>
                    <a:p>
                      <a:pPr indent="0" lvl="0" marL="0" rtl="0" algn="l">
                        <a:spcBef>
                          <a:spcPts val="0"/>
                        </a:spcBef>
                        <a:spcAft>
                          <a:spcPts val="0"/>
                        </a:spcAft>
                        <a:buNone/>
                      </a:pPr>
                      <a:r>
                        <a:rPr lang="en"/>
                        <a:t>Change bike type (hybrid, BMX, mountain, etc.)</a:t>
                      </a:r>
                      <a:endParaRPr/>
                    </a:p>
                  </a:txBody>
                  <a:tcPr marT="91425" marB="91425" marR="91425" marL="91425"/>
                </a:tc>
              </a:tr>
              <a:tr h="381000">
                <a:tc>
                  <a:txBody>
                    <a:bodyPr/>
                    <a:lstStyle/>
                    <a:p>
                      <a:pPr indent="0" lvl="0" marL="0" rtl="0" algn="l">
                        <a:spcBef>
                          <a:spcPts val="0"/>
                        </a:spcBef>
                        <a:spcAft>
                          <a:spcPts val="0"/>
                        </a:spcAft>
                        <a:buNone/>
                      </a:pPr>
                      <a:r>
                        <a:rPr lang="en"/>
                        <a:t>Tap accessory mount</a:t>
                      </a:r>
                      <a:endParaRPr/>
                    </a:p>
                  </a:txBody>
                  <a:tcPr marT="91425" marB="91425" marR="91425" marL="91425"/>
                </a:tc>
                <a:tc>
                  <a:txBody>
                    <a:bodyPr/>
                    <a:lstStyle/>
                    <a:p>
                      <a:pPr indent="0" lvl="0" marL="0" rtl="0" algn="l">
                        <a:spcBef>
                          <a:spcPts val="0"/>
                        </a:spcBef>
                        <a:spcAft>
                          <a:spcPts val="0"/>
                        </a:spcAft>
                        <a:buNone/>
                      </a:pPr>
                      <a:r>
                        <a:rPr lang="en"/>
                        <a:t>Preview gear + speed impact</a:t>
                      </a:r>
                      <a:endParaRPr/>
                    </a:p>
                  </a:txBody>
                  <a:tcPr marT="91425" marB="91425" marR="91425" marL="91425"/>
                </a:tc>
              </a:tr>
              <a:tr h="381000">
                <a:tc>
                  <a:txBody>
                    <a:bodyPr/>
                    <a:lstStyle/>
                    <a:p>
                      <a:pPr indent="0" lvl="0" marL="0" rtl="0" algn="l">
                        <a:spcBef>
                          <a:spcPts val="0"/>
                        </a:spcBef>
                        <a:spcAft>
                          <a:spcPts val="0"/>
                        </a:spcAft>
                        <a:buNone/>
                      </a:pPr>
                      <a:r>
                        <a:rPr lang="en"/>
                        <a:t>Walk timeline</a:t>
                      </a:r>
                      <a:endParaRPr/>
                    </a:p>
                  </a:txBody>
                  <a:tcPr marT="91425" marB="91425" marR="91425" marL="91425"/>
                </a:tc>
                <a:tc>
                  <a:txBody>
                    <a:bodyPr/>
                    <a:lstStyle/>
                    <a:p>
                      <a:pPr indent="0" lvl="0" marL="0" rtl="0" algn="l">
                        <a:spcBef>
                          <a:spcPts val="0"/>
                        </a:spcBef>
                        <a:spcAft>
                          <a:spcPts val="0"/>
                        </a:spcAft>
                        <a:buNone/>
                      </a:pPr>
                      <a:r>
                        <a:rPr lang="en"/>
                        <a:t>See 7-day forecast and ETA comparisons</a:t>
                      </a:r>
                      <a:endParaRPr/>
                    </a:p>
                  </a:txBody>
                  <a:tcPr marT="91425" marB="91425" marR="91425" marL="91425"/>
                </a:tc>
              </a:tr>
              <a:tr h="381000">
                <a:tc>
                  <a:txBody>
                    <a:bodyPr/>
                    <a:lstStyle/>
                    <a:p>
                      <a:pPr indent="0" lvl="0" marL="0" rtl="0" algn="l">
                        <a:spcBef>
                          <a:spcPts val="0"/>
                        </a:spcBef>
                        <a:spcAft>
                          <a:spcPts val="0"/>
                        </a:spcAft>
                        <a:buNone/>
                      </a:pPr>
                      <a:r>
                        <a:rPr lang="en"/>
                        <a:t>Pinch on a spatial map on a table (whether overlaid on a physical or a virtual table)</a:t>
                      </a:r>
                      <a:endParaRPr/>
                    </a:p>
                  </a:txBody>
                  <a:tcPr marT="91425" marB="91425" marR="91425" marL="91425"/>
                </a:tc>
                <a:tc>
                  <a:txBody>
                    <a:bodyPr/>
                    <a:lstStyle/>
                    <a:p>
                      <a:pPr indent="0" lvl="0" marL="0" rtl="0" algn="l">
                        <a:spcBef>
                          <a:spcPts val="0"/>
                        </a:spcBef>
                        <a:spcAft>
                          <a:spcPts val="0"/>
                        </a:spcAft>
                        <a:buNone/>
                      </a:pPr>
                      <a:r>
                        <a:rPr lang="en"/>
                        <a:t>Zooms in or out</a:t>
                      </a:r>
                      <a:endParaRPr/>
                    </a:p>
                  </a:txBody>
                  <a:tcPr marT="91425" marB="91425" marR="91425" marL="91425"/>
                </a:tc>
              </a:tr>
              <a:tr h="381000">
                <a:tc>
                  <a:txBody>
                    <a:bodyPr/>
                    <a:lstStyle/>
                    <a:p>
                      <a:pPr indent="0" lvl="0" marL="0" rtl="0" algn="l">
                        <a:spcBef>
                          <a:spcPts val="0"/>
                        </a:spcBef>
                        <a:spcAft>
                          <a:spcPts val="0"/>
                        </a:spcAft>
                        <a:buNone/>
                      </a:pPr>
                      <a:r>
                        <a:rPr lang="en"/>
                        <a:t>Tap on line segments</a:t>
                      </a:r>
                      <a:endParaRPr/>
                    </a:p>
                  </a:txBody>
                  <a:tcPr marT="91425" marB="91425" marR="91425" marL="91425"/>
                </a:tc>
                <a:tc>
                  <a:txBody>
                    <a:bodyPr/>
                    <a:lstStyle/>
                    <a:p>
                      <a:pPr indent="0" lvl="0" marL="0" rtl="0" algn="l">
                        <a:spcBef>
                          <a:spcPts val="0"/>
                        </a:spcBef>
                        <a:spcAft>
                          <a:spcPts val="0"/>
                        </a:spcAft>
                        <a:buNone/>
                      </a:pPr>
                      <a:r>
                        <a:rPr lang="en"/>
                        <a:t>Changes the route</a:t>
                      </a:r>
                      <a:endParaRPr/>
                    </a:p>
                  </a:txBody>
                  <a:tcPr marT="91425" marB="91425" marR="91425" marL="91425"/>
                </a:tc>
              </a:tr>
              <a:tr h="381000">
                <a:tc>
                  <a:txBody>
                    <a:bodyPr/>
                    <a:lstStyle/>
                    <a:p>
                      <a:pPr indent="0" lvl="0" marL="0" rtl="0" algn="l">
                        <a:spcBef>
                          <a:spcPts val="0"/>
                        </a:spcBef>
                        <a:spcAft>
                          <a:spcPts val="0"/>
                        </a:spcAft>
                        <a:buNone/>
                      </a:pPr>
                      <a:r>
                        <a:rPr lang="en"/>
                        <a:t>Tap on an accessory mounting point</a:t>
                      </a:r>
                      <a:endParaRPr/>
                    </a:p>
                  </a:txBody>
                  <a:tcPr marT="91425" marB="91425" marR="91425" marL="91425"/>
                </a:tc>
                <a:tc>
                  <a:txBody>
                    <a:bodyPr/>
                    <a:lstStyle/>
                    <a:p>
                      <a:pPr indent="0" lvl="0" marL="0" rtl="0" algn="l">
                        <a:spcBef>
                          <a:spcPts val="0"/>
                        </a:spcBef>
                        <a:spcAft>
                          <a:spcPts val="0"/>
                        </a:spcAft>
                        <a:buNone/>
                      </a:pPr>
                      <a:r>
                        <a:rPr lang="en"/>
                        <a:t>Gives you the option to add/remove accessories for that mounting point</a:t>
                      </a:r>
                      <a:endParaRPr/>
                    </a:p>
                  </a:txBody>
                  <a:tcPr marT="91425" marB="91425" marR="91425" marL="91425"/>
                </a:tc>
              </a:tr>
              <a:tr h="381000">
                <a:tc>
                  <a:txBody>
                    <a:bodyPr/>
                    <a:lstStyle/>
                    <a:p>
                      <a:pPr indent="0" lvl="0" marL="0" rtl="0" algn="l">
                        <a:spcBef>
                          <a:spcPts val="0"/>
                        </a:spcBef>
                        <a:spcAft>
                          <a:spcPts val="0"/>
                        </a:spcAft>
                        <a:buNone/>
                      </a:pPr>
                      <a:r>
                        <a:rPr lang="en"/>
                        <a:t>Hold onto bike’s handlebars</a:t>
                      </a:r>
                      <a:endParaRPr/>
                    </a:p>
                  </a:txBody>
                  <a:tcPr marT="91425" marB="91425" marR="91425" marL="91425"/>
                </a:tc>
                <a:tc>
                  <a:txBody>
                    <a:bodyPr/>
                    <a:lstStyle/>
                    <a:p>
                      <a:pPr indent="0" lvl="0" marL="0" rtl="0" algn="l">
                        <a:spcBef>
                          <a:spcPts val="0"/>
                        </a:spcBef>
                        <a:spcAft>
                          <a:spcPts val="0"/>
                        </a:spcAft>
                        <a:buNone/>
                      </a:pPr>
                      <a:r>
                        <a:rPr lang="en"/>
                        <a:t>Enters VR simulation mode</a:t>
                      </a:r>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